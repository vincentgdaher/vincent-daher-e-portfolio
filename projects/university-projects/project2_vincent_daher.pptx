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6B0E31-D5D8-A0A0-1D3B-1EC387A3C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00" y="943059"/>
            <a:ext cx="7833026" cy="13134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82B286-65FC-D8B3-4563-A929E6B2D507}"/>
              </a:ext>
            </a:extLst>
          </p:cNvPr>
          <p:cNvSpPr txBox="1"/>
          <p:nvPr/>
        </p:nvSpPr>
        <p:spPr>
          <a:xfrm>
            <a:off x="5506064" y="943059"/>
            <a:ext cx="1406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BF5765-4A57-E8B3-D669-55C19A2A63A0}"/>
              </a:ext>
            </a:extLst>
          </p:cNvPr>
          <p:cNvSpPr txBox="1"/>
          <p:nvPr/>
        </p:nvSpPr>
        <p:spPr>
          <a:xfrm>
            <a:off x="1017716" y="2256503"/>
            <a:ext cx="3077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Vincent Daher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C73A55-0853-A441-A2E0-2BE93CA7B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807" y="0"/>
            <a:ext cx="2872193" cy="205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7132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38912"/>
            <a:ext cx="2240280" cy="329184"/>
          </a:xfrm>
          <a:prstGeom prst="roundRect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POWERPOINT TRANSITIONS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6766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>
                <a:solidFill>
                  <a:srgbClr val="141C28"/>
                </a:solidFill>
                <a:latin typeface="Aptos"/>
              </a:rPr>
              <a:t>Morph Animation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08760"/>
            <a:ext cx="599531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 dirty="0">
                <a:solidFill>
                  <a:srgbClr val="697482"/>
                </a:solidFill>
                <a:latin typeface="Aptos"/>
              </a:rPr>
              <a:t>A visual transition that transforms objects from one slide to the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685800"/>
            <a:ext cx="1097280" cy="320040"/>
          </a:xfrm>
          <a:prstGeom prst="roundRect">
            <a:avLst/>
          </a:prstGeom>
          <a:solidFill>
            <a:srgbClr val="1C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Slide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685800"/>
            <a:ext cx="1097280" cy="320040"/>
          </a:xfrm>
          <a:prstGeom prst="roundRect">
            <a:avLst/>
          </a:prstGeom>
          <a:solidFill>
            <a:srgbClr val="1C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Slide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078992"/>
            <a:ext cx="18288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1078992"/>
            <a:ext cx="18288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32320" y="1417320"/>
            <a:ext cx="685800" cy="685800"/>
          </a:xfrm>
          <a:prstGeom prst="ellipse">
            <a:avLst/>
          </a:prstGeom>
          <a:solidFill>
            <a:srgbClr val="E87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3246120"/>
            <a:ext cx="685800" cy="411480"/>
          </a:xfrm>
          <a:prstGeom prst="roundRect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332720" y="3063240"/>
            <a:ext cx="960120" cy="960120"/>
          </a:xfrm>
          <a:prstGeom prst="ellipse">
            <a:avLst/>
          </a:prstGeom>
          <a:solidFill>
            <a:srgbClr val="E87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966960" y="1417320"/>
            <a:ext cx="1143000" cy="594360"/>
          </a:xfrm>
          <a:prstGeom prst="roundRect">
            <a:avLst/>
          </a:prstGeom>
          <a:solidFill>
            <a:srgbClr val="36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8732520" y="2697480"/>
            <a:ext cx="731520" cy="0"/>
          </a:xfrm>
          <a:prstGeom prst="line">
            <a:avLst/>
          </a:prstGeom>
          <a:ln w="38100">
            <a:solidFill>
              <a:srgbClr val="4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0" y="4718304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1C28"/>
                </a:solidFill>
                <a:latin typeface="Aptos"/>
              </a:rPr>
              <a:t>Morph creates the motion between these two states.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2468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50392" y="2496312"/>
            <a:ext cx="109728" cy="1545336"/>
          </a:xfrm>
          <a:prstGeom prst="roundRect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253288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1C28"/>
                </a:solidFill>
                <a:latin typeface="Aptos"/>
              </a:rPr>
              <a:t>What it 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53512"/>
            <a:ext cx="187452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697482"/>
                </a:solidFill>
                <a:latin typeface="Aptos"/>
              </a:rPr>
              <a:t>A slide transition that compares two consecutive slides and animates the difference.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2331720"/>
            <a:ext cx="2468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593592" y="2496312"/>
            <a:ext cx="109728" cy="1545336"/>
          </a:xfrm>
          <a:prstGeom prst="roundRect">
            <a:avLst/>
          </a:prstGeom>
          <a:solidFill>
            <a:srgbClr val="E87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253288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1C28"/>
                </a:solidFill>
                <a:latin typeface="Aptos"/>
              </a:rPr>
              <a:t>Main idea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953512"/>
            <a:ext cx="187452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697482"/>
                </a:solidFill>
                <a:latin typeface="Aptos"/>
              </a:rPr>
              <a:t>You design a before slide and an after slide. Morph fills the movement in between.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3"/>
                </a:solidFill>
                <a:latin typeface="Aptos"/>
              </a:rPr>
              <a:t>Morph Animation Project  •  Slide 1/5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1C28"/>
                </a:solidFill>
                <a:latin typeface="Aptos"/>
              </a:rPr>
              <a:t>What Morph Can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97482"/>
                </a:solidFill>
                <a:latin typeface="Aptos"/>
              </a:rPr>
              <a:t>It can animate visual change without recording a video.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691639"/>
            <a:ext cx="1051560" cy="292608"/>
          </a:xfrm>
          <a:prstGeom prst="roundRect">
            <a:avLst/>
          </a:prstGeom>
          <a:solidFill>
            <a:srgbClr val="36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122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1C28"/>
                </a:solidFill>
                <a:latin typeface="Aptos"/>
              </a:rPr>
              <a:t>Object changes position</a:t>
            </a:r>
          </a:p>
        </p:txBody>
      </p:sp>
      <p:sp>
        <p:nvSpPr>
          <p:cNvPr id="7" name="Oval 6"/>
          <p:cNvSpPr/>
          <p:nvPr/>
        </p:nvSpPr>
        <p:spPr>
          <a:xfrm>
            <a:off x="987552" y="2560320"/>
            <a:ext cx="228600" cy="228600"/>
          </a:xfrm>
          <a:prstGeom prst="ellipse">
            <a:avLst/>
          </a:prstGeom>
          <a:solidFill>
            <a:srgbClr val="36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344168" y="2679191"/>
            <a:ext cx="1673352" cy="0"/>
          </a:xfrm>
          <a:prstGeom prst="line">
            <a:avLst/>
          </a:prstGeom>
          <a:ln w="25400">
            <a:solidFill>
              <a:srgbClr val="367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34840" y="15087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63440" y="1691639"/>
            <a:ext cx="1051560" cy="292608"/>
          </a:xfrm>
          <a:prstGeom prst="roundRect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122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1C28"/>
                </a:solidFill>
                <a:latin typeface="Aptos"/>
              </a:rPr>
              <a:t>Object becomes bigger or smaller</a:t>
            </a:r>
          </a:p>
        </p:txBody>
      </p:sp>
      <p:sp>
        <p:nvSpPr>
          <p:cNvPr id="12" name="Oval 11"/>
          <p:cNvSpPr/>
          <p:nvPr/>
        </p:nvSpPr>
        <p:spPr>
          <a:xfrm>
            <a:off x="4937759" y="2656332"/>
            <a:ext cx="201168" cy="201168"/>
          </a:xfrm>
          <a:prstGeom prst="ellipse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40679" y="2459736"/>
            <a:ext cx="384048" cy="384048"/>
          </a:xfrm>
          <a:prstGeom prst="ellipse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26479" y="2459736"/>
            <a:ext cx="594360" cy="594360"/>
          </a:xfrm>
          <a:prstGeom prst="ellipse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12480" y="1691639"/>
            <a:ext cx="1051560" cy="292608"/>
          </a:xfrm>
          <a:prstGeom prst="roundRect">
            <a:avLst/>
          </a:prstGeom>
          <a:solidFill>
            <a:srgbClr val="E87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Rotate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122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1C28"/>
                </a:solidFill>
                <a:latin typeface="Aptos"/>
              </a:rPr>
              <a:t>Object turns smoothly</a:t>
            </a:r>
          </a:p>
        </p:txBody>
      </p:sp>
      <p:sp>
        <p:nvSpPr>
          <p:cNvPr id="18" name="Isosceles Triangle 17"/>
          <p:cNvSpPr/>
          <p:nvPr/>
        </p:nvSpPr>
        <p:spPr>
          <a:xfrm>
            <a:off x="8686800" y="2441448"/>
            <a:ext cx="502920" cy="502920"/>
          </a:xfrm>
          <a:prstGeom prst="triangle">
            <a:avLst/>
          </a:prstGeom>
          <a:solidFill>
            <a:srgbClr val="E87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osceles Triangle 18"/>
          <p:cNvSpPr/>
          <p:nvPr/>
        </p:nvSpPr>
        <p:spPr>
          <a:xfrm rot="5400000">
            <a:off x="9692640" y="2441448"/>
            <a:ext cx="502920" cy="502920"/>
          </a:xfrm>
          <a:prstGeom prst="triangle">
            <a:avLst/>
          </a:prstGeom>
          <a:solidFill>
            <a:srgbClr val="E87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9281159" y="2688336"/>
            <a:ext cx="320041" cy="0"/>
          </a:xfrm>
          <a:prstGeom prst="line">
            <a:avLst/>
          </a:prstGeom>
          <a:ln w="25400">
            <a:solidFill>
              <a:srgbClr val="E87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35661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" y="3749039"/>
            <a:ext cx="1051560" cy="292608"/>
          </a:xfrm>
          <a:prstGeom prst="roundRect">
            <a:avLst/>
          </a:prstGeom>
          <a:solidFill>
            <a:srgbClr val="776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Recolor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6966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1C28"/>
                </a:solidFill>
                <a:latin typeface="Aptos"/>
              </a:rPr>
              <a:t>Object changes color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590288"/>
            <a:ext cx="329184" cy="329184"/>
          </a:xfrm>
          <a:prstGeom prst="rect">
            <a:avLst/>
          </a:prstGeom>
          <a:solidFill>
            <a:srgbClr val="E87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508760" y="4590288"/>
            <a:ext cx="329184" cy="329184"/>
          </a:xfrm>
          <a:prstGeom prst="rect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11680" y="4590288"/>
            <a:ext cx="329184" cy="329184"/>
          </a:xfrm>
          <a:prstGeom prst="rect">
            <a:avLst/>
          </a:prstGeom>
          <a:solidFill>
            <a:srgbClr val="36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434840" y="35661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663440" y="3749039"/>
            <a:ext cx="1051560" cy="292608"/>
          </a:xfrm>
          <a:prstGeom prst="roundRect">
            <a:avLst/>
          </a:prstGeom>
          <a:solidFill>
            <a:srgbClr val="33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Rearrange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16966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1C28"/>
                </a:solidFill>
                <a:latin typeface="Aptos"/>
              </a:rPr>
              <a:t>Many objects reorganize</a:t>
            </a:r>
          </a:p>
        </p:txBody>
      </p:sp>
      <p:sp>
        <p:nvSpPr>
          <p:cNvPr id="30" name="Oval 29"/>
          <p:cNvSpPr/>
          <p:nvPr/>
        </p:nvSpPr>
        <p:spPr>
          <a:xfrm>
            <a:off x="4754879" y="4608576"/>
            <a:ext cx="201168" cy="201168"/>
          </a:xfrm>
          <a:prstGeom prst="ellipse">
            <a:avLst/>
          </a:prstGeom>
          <a:solidFill>
            <a:srgbClr val="33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074919" y="4837176"/>
            <a:ext cx="201168" cy="201168"/>
          </a:xfrm>
          <a:prstGeom prst="ellipse">
            <a:avLst/>
          </a:prstGeom>
          <a:solidFill>
            <a:srgbClr val="33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394959" y="4608576"/>
            <a:ext cx="201168" cy="201168"/>
          </a:xfrm>
          <a:prstGeom prst="ellipse">
            <a:avLst/>
          </a:prstGeom>
          <a:solidFill>
            <a:srgbClr val="33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714999" y="4837176"/>
            <a:ext cx="201168" cy="201168"/>
          </a:xfrm>
          <a:prstGeom prst="ellipse">
            <a:avLst/>
          </a:prstGeom>
          <a:solidFill>
            <a:srgbClr val="33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6217920" y="4745736"/>
            <a:ext cx="365759" cy="0"/>
          </a:xfrm>
          <a:prstGeom prst="line">
            <a:avLst/>
          </a:prstGeom>
          <a:ln w="25400">
            <a:solidFill>
              <a:srgbClr val="339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766559" y="4498848"/>
            <a:ext cx="201168" cy="201168"/>
          </a:xfrm>
          <a:prstGeom prst="ellipse">
            <a:avLst/>
          </a:prstGeom>
          <a:solidFill>
            <a:srgbClr val="33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068312" y="4498848"/>
            <a:ext cx="201168" cy="201168"/>
          </a:xfrm>
          <a:prstGeom prst="ellipse">
            <a:avLst/>
          </a:prstGeom>
          <a:solidFill>
            <a:srgbClr val="33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766559" y="4800600"/>
            <a:ext cx="201168" cy="201168"/>
          </a:xfrm>
          <a:prstGeom prst="ellipse">
            <a:avLst/>
          </a:prstGeom>
          <a:solidFill>
            <a:srgbClr val="33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068312" y="4800600"/>
            <a:ext cx="201168" cy="201168"/>
          </a:xfrm>
          <a:prstGeom prst="ellipse">
            <a:avLst/>
          </a:prstGeom>
          <a:solidFill>
            <a:srgbClr val="33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183879" y="35661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412480" y="3749039"/>
            <a:ext cx="1051560" cy="292608"/>
          </a:xfrm>
          <a:prstGeom prst="roundRect">
            <a:avLst/>
          </a:prstGeom>
          <a:solidFill>
            <a:srgbClr val="D6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Zoom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16966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1C28"/>
                </a:solidFill>
                <a:latin typeface="Aptos"/>
              </a:rPr>
              <a:t>You move focus from whole to detail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36509" y="4651246"/>
            <a:ext cx="795527" cy="338326"/>
          </a:xfrm>
          <a:prstGeom prst="rect">
            <a:avLst/>
          </a:prstGeom>
          <a:solidFill>
            <a:srgbClr val="FFF0F0"/>
          </a:solidFill>
          <a:ln>
            <a:solidFill>
              <a:srgbClr val="D6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796528" y="4681728"/>
            <a:ext cx="201168" cy="201168"/>
          </a:xfrm>
          <a:prstGeom prst="ellipse">
            <a:avLst/>
          </a:prstGeom>
          <a:solidFill>
            <a:srgbClr val="D6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9601200" y="4818888"/>
            <a:ext cx="411480" cy="0"/>
          </a:xfrm>
          <a:prstGeom prst="line">
            <a:avLst/>
          </a:prstGeom>
          <a:ln w="25400">
            <a:solidFill>
              <a:srgbClr val="D64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222992" y="4498848"/>
            <a:ext cx="594360" cy="594360"/>
          </a:xfrm>
          <a:prstGeom prst="ellipse">
            <a:avLst/>
          </a:prstGeom>
          <a:solidFill>
            <a:srgbClr val="D6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" y="59893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1C28"/>
                </a:solidFill>
                <a:latin typeface="Aptos"/>
              </a:rPr>
              <a:t>PowerPoint recognizes matching objects from Slide A to Slide B and creates the illusion of movement.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3"/>
                </a:solidFill>
                <a:latin typeface="Aptos"/>
              </a:rPr>
              <a:t>Morph Animation Project  •  Slide 2/5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1C28"/>
                </a:solidFill>
                <a:latin typeface="Aptos"/>
              </a:rPr>
              <a:t>How to Use Morph: 5-Step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97482"/>
                </a:solidFill>
                <a:latin typeface="Aptos"/>
              </a:rPr>
              <a:t>The method is simple: duplicate, change, then apply Morph.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36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505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141C28"/>
                </a:solidFill>
                <a:latin typeface="Aptos"/>
              </a:rPr>
              <a:t>Create Slide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19" y="2862072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30" b="0" i="0">
                <a:solidFill>
                  <a:srgbClr val="697482"/>
                </a:solidFill>
                <a:latin typeface="Aptos"/>
              </a:rPr>
              <a:t>Place your objects, text, images, or graph.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0" y="1965960"/>
            <a:ext cx="1188720" cy="0"/>
          </a:xfrm>
          <a:prstGeom prst="line">
            <a:avLst/>
          </a:prstGeom>
          <a:ln w="25400">
            <a:solidFill>
              <a:srgbClr val="B8C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063240" y="1691640"/>
            <a:ext cx="548640" cy="548640"/>
          </a:xfrm>
          <a:prstGeom prst="ellipse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17830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4505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141C28"/>
                </a:solidFill>
                <a:latin typeface="Aptos"/>
              </a:rPr>
              <a:t>Duplicate the slide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18" y="2953511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30" b="0" i="0" dirty="0">
                <a:solidFill>
                  <a:srgbClr val="697482"/>
                </a:solidFill>
                <a:latin typeface="Aptos"/>
              </a:rPr>
              <a:t>Right-click the slide → Duplicate Slide.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49039" y="1965960"/>
            <a:ext cx="1188721" cy="0"/>
          </a:xfrm>
          <a:prstGeom prst="line">
            <a:avLst/>
          </a:prstGeom>
          <a:ln w="25400">
            <a:solidFill>
              <a:srgbClr val="B8C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349240" y="1691640"/>
            <a:ext cx="548640" cy="548640"/>
          </a:xfrm>
          <a:prstGeom prst="ellipse">
            <a:avLst/>
          </a:prstGeom>
          <a:solidFill>
            <a:srgbClr val="E87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17830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4505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141C28"/>
                </a:solidFill>
                <a:latin typeface="Aptos"/>
              </a:rPr>
              <a:t>Change Slide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862072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30" b="0" i="0">
                <a:solidFill>
                  <a:srgbClr val="697482"/>
                </a:solidFill>
                <a:latin typeface="Aptos"/>
              </a:rPr>
              <a:t>Move, resize, rotate, crop, recolor, or rearrange objects.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0" y="1965960"/>
            <a:ext cx="1188719" cy="0"/>
          </a:xfrm>
          <a:prstGeom prst="line">
            <a:avLst/>
          </a:prstGeom>
          <a:ln w="25400">
            <a:solidFill>
              <a:srgbClr val="B8C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635240" y="1691640"/>
            <a:ext cx="548640" cy="548640"/>
          </a:xfrm>
          <a:prstGeom prst="ellipse">
            <a:avLst/>
          </a:prstGeom>
          <a:solidFill>
            <a:srgbClr val="776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17830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4505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141C28"/>
                </a:solidFill>
                <a:latin typeface="Aptos"/>
              </a:rPr>
              <a:t>Apply Morph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862072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30" b="0" i="0">
                <a:solidFill>
                  <a:srgbClr val="697482"/>
                </a:solidFill>
                <a:latin typeface="Aptos"/>
              </a:rPr>
              <a:t>Transitions → Morph. Then choose Effect Options.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21040" y="1965960"/>
            <a:ext cx="1188719" cy="0"/>
          </a:xfrm>
          <a:prstGeom prst="line">
            <a:avLst/>
          </a:prstGeom>
          <a:ln w="25400">
            <a:solidFill>
              <a:srgbClr val="B8C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921240" y="1691640"/>
            <a:ext cx="548640" cy="548640"/>
          </a:xfrm>
          <a:prstGeom prst="ellipse">
            <a:avLst/>
          </a:prstGeom>
          <a:solidFill>
            <a:srgbClr val="33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21240" y="17830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4505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>
                <a:solidFill>
                  <a:srgbClr val="141C28"/>
                </a:solidFill>
                <a:latin typeface="Aptos"/>
              </a:rPr>
              <a:t>Preview &amp; adjust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2974062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30" b="0" i="0">
                <a:solidFill>
                  <a:srgbClr val="697482"/>
                </a:solidFill>
                <a:latin typeface="Aptos"/>
              </a:rPr>
              <a:t>Keep it short, clear, and purposeful.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617720"/>
            <a:ext cx="10424160" cy="960120"/>
          </a:xfrm>
          <a:prstGeom prst="roundRect">
            <a:avLst/>
          </a:prstGeom>
          <a:solidFill>
            <a:srgbClr val="ECF8F6"/>
          </a:solidFill>
          <a:ln>
            <a:solidFill>
              <a:srgbClr val="B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4626863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0A896"/>
                </a:solidFill>
                <a:latin typeface="Aptos"/>
              </a:rPr>
              <a:t>Pro tip: use the Selection Pane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138928"/>
            <a:ext cx="9372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141C28"/>
                </a:solidFill>
                <a:latin typeface="Aptos"/>
              </a:rPr>
              <a:t>For advanced Morph control, rename matching objects with the same name on both slides. This helps PowerPoint understand which object should transform into which object.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3"/>
                </a:solidFill>
                <a:latin typeface="Aptos"/>
              </a:rPr>
              <a:t>Morph Animation Project  •  Slide 3/5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1C28"/>
                </a:solidFill>
                <a:latin typeface="Aptos"/>
              </a:rPr>
              <a:t>Why Use Morph?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97482"/>
                </a:solidFill>
                <a:latin typeface="Aptos"/>
              </a:rPr>
              <a:t>Morph is useful when the audience must understand a change, not just see a new slide.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0749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50392" y="1764792"/>
            <a:ext cx="109728" cy="969264"/>
          </a:xfrm>
          <a:prstGeom prst="roundRect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01368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1C28"/>
                </a:solidFill>
                <a:latin typeface="Aptos"/>
              </a:rPr>
              <a:t>Continuity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21992"/>
            <a:ext cx="448055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697482"/>
                </a:solidFill>
                <a:latin typeface="Aptos"/>
              </a:rPr>
              <a:t>The audience sees how one idea becomes another.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00200"/>
            <a:ext cx="50749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73952" y="1764792"/>
            <a:ext cx="109728" cy="969264"/>
          </a:xfrm>
          <a:prstGeom prst="roundRect">
            <a:avLst/>
          </a:prstGeom>
          <a:solidFill>
            <a:srgbClr val="36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801368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1C28"/>
                </a:solidFill>
                <a:latin typeface="Aptos"/>
              </a:rPr>
              <a:t>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221992"/>
            <a:ext cx="448055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697482"/>
                </a:solidFill>
                <a:latin typeface="Aptos"/>
              </a:rPr>
              <a:t>Attention is guided to the exact element that 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37560"/>
            <a:ext cx="50749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0392" y="3502152"/>
            <a:ext cx="109728" cy="969264"/>
          </a:xfrm>
          <a:prstGeom prst="roundRect">
            <a:avLst/>
          </a:prstGeom>
          <a:solidFill>
            <a:srgbClr val="E87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538728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1C28"/>
                </a:solidFill>
                <a:latin typeface="Aptos"/>
              </a:rPr>
              <a:t>Clarity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59352"/>
            <a:ext cx="448055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697482"/>
                </a:solidFill>
                <a:latin typeface="Aptos"/>
              </a:rPr>
              <a:t>Processes, comparisons, and transformations become easier to follow.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337560"/>
            <a:ext cx="50749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73952" y="3502152"/>
            <a:ext cx="109728" cy="969264"/>
          </a:xfrm>
          <a:prstGeom prst="roundRect">
            <a:avLst/>
          </a:prstGeom>
          <a:solidFill>
            <a:srgbClr val="776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3538728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1C28"/>
                </a:solidFill>
                <a:latin typeface="Aptos"/>
              </a:rPr>
              <a:t>Professional look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959352"/>
            <a:ext cx="448055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697482"/>
                </a:solidFill>
                <a:latin typeface="Aptos"/>
              </a:rPr>
              <a:t>It creates smooth movement without adding videos or complex animation paths.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166360"/>
            <a:ext cx="5120640" cy="685800"/>
          </a:xfrm>
          <a:prstGeom prst="roundRect">
            <a:avLst/>
          </a:prstGeom>
          <a:solidFill>
            <a:srgbClr val="EDF7F2"/>
          </a:solidFill>
          <a:ln>
            <a:solidFill>
              <a:srgbClr val="BA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6320" y="5317236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141C28"/>
                </a:solidFill>
                <a:latin typeface="Aptos"/>
              </a:rPr>
              <a:t>Use Morph for: timelines, steps, before/after, zooming into details, diagrams, graphs.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5166360"/>
            <a:ext cx="5120640" cy="685800"/>
          </a:xfrm>
          <a:prstGeom prst="roundRect">
            <a:avLst/>
          </a:prstGeom>
          <a:solidFill>
            <a:srgbClr val="FDF0EC"/>
          </a:solidFill>
          <a:ln>
            <a:solidFill>
              <a:srgbClr val="EE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4079" y="5271516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141C28"/>
                </a:solidFill>
                <a:latin typeface="Aptos"/>
              </a:rPr>
              <a:t>Avoid Morph when: the movement is decorative, too fast, confusing, or not connected to the lesson.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3"/>
                </a:solidFill>
                <a:latin typeface="Aptos"/>
              </a:rPr>
              <a:t>Morph Animation Project  •  Slide 4/5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1C28"/>
                </a:solidFill>
                <a:latin typeface="Aptos"/>
              </a:rPr>
              <a:t>Mini Guide: Build a Morph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97482"/>
                </a:solidFill>
                <a:latin typeface="Aptos"/>
              </a:rPr>
              <a:t>Use this checklist whenever you create your own Morph animation.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143000" cy="292608"/>
          </a:xfrm>
          <a:prstGeom prst="roundRect">
            <a:avLst/>
          </a:prstGeom>
          <a:solidFill>
            <a:srgbClr val="1C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BEFORE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1508760"/>
            <a:ext cx="1143000" cy="292608"/>
          </a:xfrm>
          <a:prstGeom prst="roundRect">
            <a:avLst/>
          </a:prstGeom>
          <a:solidFill>
            <a:srgbClr val="1C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23360" y="1874519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43000" y="2331720"/>
            <a:ext cx="777240" cy="502920"/>
          </a:xfrm>
          <a:prstGeom prst="roundRect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240280" y="2880360"/>
            <a:ext cx="411480" cy="411480"/>
          </a:xfrm>
          <a:prstGeom prst="ellipse">
            <a:avLst/>
          </a:prstGeom>
          <a:solidFill>
            <a:srgbClr val="E87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55464" y="2864923"/>
            <a:ext cx="1325880" cy="640080"/>
          </a:xfrm>
          <a:prstGeom prst="roundRect">
            <a:avLst/>
          </a:prstGeom>
          <a:solidFill>
            <a:srgbClr val="36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07408" y="2148840"/>
            <a:ext cx="685800" cy="685800"/>
          </a:xfrm>
          <a:prstGeom prst="ellipse">
            <a:avLst/>
          </a:prstGeom>
          <a:solidFill>
            <a:srgbClr val="E87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3520440" y="2834640"/>
            <a:ext cx="365760" cy="0"/>
          </a:xfrm>
          <a:prstGeom prst="line">
            <a:avLst/>
          </a:prstGeom>
          <a:ln w="38100">
            <a:solidFill>
              <a:srgbClr val="4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41605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1C28"/>
                </a:solidFill>
                <a:latin typeface="Aptos"/>
              </a:rPr>
              <a:t>The same objects are changed between two slides.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463040"/>
            <a:ext cx="4434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0" y="17556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41C28"/>
                </a:solidFill>
                <a:latin typeface="Aptos"/>
              </a:rPr>
              <a:t>Checklist</a:t>
            </a:r>
          </a:p>
        </p:txBody>
      </p:sp>
      <p:sp>
        <p:nvSpPr>
          <p:cNvPr id="16" name="Oval 15"/>
          <p:cNvSpPr/>
          <p:nvPr/>
        </p:nvSpPr>
        <p:spPr>
          <a:xfrm>
            <a:off x="7223760" y="2350008"/>
            <a:ext cx="201168" cy="201168"/>
          </a:xfrm>
          <a:prstGeom prst="ellipse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43800" y="230428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141C28"/>
                </a:solidFill>
                <a:latin typeface="Aptos"/>
              </a:rPr>
              <a:t>One clear teaching objective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825496"/>
            <a:ext cx="201168" cy="201168"/>
          </a:xfrm>
          <a:prstGeom prst="ellipse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2779776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141C28"/>
                </a:solidFill>
                <a:latin typeface="Aptos"/>
              </a:rPr>
              <a:t>Objects appear on both slides</a:t>
            </a:r>
          </a:p>
        </p:txBody>
      </p:sp>
      <p:sp>
        <p:nvSpPr>
          <p:cNvPr id="20" name="Oval 19"/>
          <p:cNvSpPr/>
          <p:nvPr/>
        </p:nvSpPr>
        <p:spPr>
          <a:xfrm>
            <a:off x="7223760" y="3300984"/>
            <a:ext cx="201168" cy="201168"/>
          </a:xfrm>
          <a:prstGeom prst="ellipse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325526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141C28"/>
                </a:solidFill>
                <a:latin typeface="Aptos"/>
              </a:rPr>
              <a:t>Changes are intentional and visible</a:t>
            </a:r>
          </a:p>
        </p:txBody>
      </p:sp>
      <p:sp>
        <p:nvSpPr>
          <p:cNvPr id="22" name="Oval 21"/>
          <p:cNvSpPr/>
          <p:nvPr/>
        </p:nvSpPr>
        <p:spPr>
          <a:xfrm>
            <a:off x="7223760" y="3776471"/>
            <a:ext cx="201168" cy="201168"/>
          </a:xfrm>
          <a:prstGeom prst="ellipse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43800" y="3730751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141C28"/>
                </a:solidFill>
                <a:latin typeface="Aptos"/>
              </a:rPr>
              <a:t>Morph transition applied to the second slide</a:t>
            </a:r>
          </a:p>
        </p:txBody>
      </p:sp>
      <p:sp>
        <p:nvSpPr>
          <p:cNvPr id="24" name="Oval 23"/>
          <p:cNvSpPr/>
          <p:nvPr/>
        </p:nvSpPr>
        <p:spPr>
          <a:xfrm>
            <a:off x="7223760" y="4251959"/>
            <a:ext cx="201168" cy="201168"/>
          </a:xfrm>
          <a:prstGeom prst="ellipse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43800" y="4206239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141C28"/>
                </a:solidFill>
                <a:latin typeface="Aptos"/>
              </a:rPr>
              <a:t>Duration is smooth, not too slow</a:t>
            </a:r>
          </a:p>
        </p:txBody>
      </p:sp>
      <p:sp>
        <p:nvSpPr>
          <p:cNvPr id="26" name="Oval 25"/>
          <p:cNvSpPr/>
          <p:nvPr/>
        </p:nvSpPr>
        <p:spPr>
          <a:xfrm>
            <a:off x="7223760" y="4727447"/>
            <a:ext cx="201168" cy="201168"/>
          </a:xfrm>
          <a:prstGeom prst="ellipse">
            <a:avLst/>
          </a:prstGeom>
          <a:solidFill>
            <a:srgbClr val="4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43800" y="4681727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 i="0">
                <a:solidFill>
                  <a:srgbClr val="141C28"/>
                </a:solidFill>
                <a:latin typeface="Aptos"/>
              </a:rPr>
              <a:t>Preview before presenting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983480"/>
            <a:ext cx="5760720" cy="658368"/>
          </a:xfrm>
          <a:prstGeom prst="roundRect">
            <a:avLst/>
          </a:prstGeom>
          <a:solidFill>
            <a:srgbClr val="1C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08711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 dirty="0">
                <a:solidFill>
                  <a:srgbClr val="FFFFFF"/>
                </a:solidFill>
                <a:latin typeface="Aptos"/>
              </a:rPr>
              <a:t>Morph is best when it explains movement, comparison, or transformation.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3"/>
                </a:solidFill>
                <a:latin typeface="Aptos"/>
              </a:rPr>
              <a:t>Morph Animation Project  •  Slide 5/5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469</Words>
  <Application>Microsoft Office PowerPoint</Application>
  <PresentationFormat>Widescreen</PresentationFormat>
  <Paragraphs>76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ADLaM Display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Angel Daher</cp:lastModifiedBy>
  <cp:revision>2</cp:revision>
  <dcterms:created xsi:type="dcterms:W3CDTF">2013-01-27T09:14:16Z</dcterms:created>
  <dcterms:modified xsi:type="dcterms:W3CDTF">2026-05-16T19:44:27Z</dcterms:modified>
  <cp:category/>
</cp:coreProperties>
</file>