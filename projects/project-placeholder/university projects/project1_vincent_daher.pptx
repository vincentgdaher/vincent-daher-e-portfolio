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29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BD49-F44D-4ED3-9A95-5AC2352B0BD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15A4-305D-483A-83D4-A1BCF42A1B4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1305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BD49-F44D-4ED3-9A95-5AC2352B0BD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15A4-305D-483A-83D4-A1BCF42A1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076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BD49-F44D-4ED3-9A95-5AC2352B0BD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15A4-305D-483A-83D4-A1BCF42A1B4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061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BD49-F44D-4ED3-9A95-5AC2352B0BD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15A4-305D-483A-83D4-A1BCF42A1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7022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BD49-F44D-4ED3-9A95-5AC2352B0BD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15A4-305D-483A-83D4-A1BCF42A1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6607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BD49-F44D-4ED3-9A95-5AC2352B0BD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15A4-305D-483A-83D4-A1BCF42A1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726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BD49-F44D-4ED3-9A95-5AC2352B0BD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15A4-305D-483A-83D4-A1BCF42A1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891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0A9BD49-F44D-4ED3-9A95-5AC2352B0BD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4EC15A4-305D-483A-83D4-A1BCF42A1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349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BD49-F44D-4ED3-9A95-5AC2352B0BD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15A4-305D-483A-83D4-A1BCF42A1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626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BD49-F44D-4ED3-9A95-5AC2352B0BD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15A4-305D-483A-83D4-A1BCF42A1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40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BD49-F44D-4ED3-9A95-5AC2352B0BD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15A4-305D-483A-83D4-A1BCF42A1B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798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0A9BD49-F44D-4ED3-9A95-5AC2352B0BD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4EC15A4-305D-483A-83D4-A1BCF42A1B4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0147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0D82FA7-DCEB-3F2F-523D-42C03719E7AC}"/>
              </a:ext>
            </a:extLst>
          </p:cNvPr>
          <p:cNvSpPr/>
          <p:nvPr/>
        </p:nvSpPr>
        <p:spPr>
          <a:xfrm>
            <a:off x="1455174" y="1307690"/>
            <a:ext cx="6705600" cy="111104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Shape of Data: Skewness and Kurtosis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5B1769-50D8-3406-48FD-D6B8F79BD8D0}"/>
              </a:ext>
            </a:extLst>
          </p:cNvPr>
          <p:cNvSpPr txBox="1"/>
          <p:nvPr/>
        </p:nvSpPr>
        <p:spPr>
          <a:xfrm>
            <a:off x="1730477" y="2851355"/>
            <a:ext cx="3077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 Vincent Daher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A678EB-0026-428B-0A94-D0E9EF58F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9807" y="0"/>
            <a:ext cx="2872193" cy="205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21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C23AD-CF8D-7176-2655-862520AD7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DAD869F-A68E-9C3F-ABC4-09747A73F51F}"/>
              </a:ext>
            </a:extLst>
          </p:cNvPr>
          <p:cNvSpPr/>
          <p:nvPr/>
        </p:nvSpPr>
        <p:spPr>
          <a:xfrm>
            <a:off x="3421625" y="526026"/>
            <a:ext cx="5230761" cy="107171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Skewness means the asymmetry of data.</a:t>
            </a:r>
            <a:br>
              <a:rPr lang="en-US"/>
            </a:br>
            <a:r>
              <a:rPr lang="en-US"/>
              <a:t>It tells us if the graph has a longer tail on the right or on the left.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9A8472-7BCD-97AA-A88E-820B44C26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866" y="0"/>
            <a:ext cx="9364268" cy="6212362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42EF4C0-E10A-F13A-E75C-AA10A50A6410}"/>
              </a:ext>
            </a:extLst>
          </p:cNvPr>
          <p:cNvSpPr/>
          <p:nvPr/>
        </p:nvSpPr>
        <p:spPr>
          <a:xfrm>
            <a:off x="4709652" y="526026"/>
            <a:ext cx="3293806" cy="1071716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1. Symmetric distribution</a:t>
            </a:r>
            <a:br>
              <a:rPr lang="en-US"/>
            </a:br>
            <a:r>
              <a:rPr lang="en-US"/>
              <a:t>The graph is balanced.</a:t>
            </a:r>
            <a:br>
              <a:rPr lang="en-US"/>
            </a:br>
            <a:r>
              <a:rPr lang="en-US"/>
              <a:t>Mean ≈ Median ≈ Mode.</a:t>
            </a:r>
            <a:br>
              <a:rPr lang="en-US"/>
            </a:br>
            <a:r>
              <a:rPr lang="en-US"/>
              <a:t>Skewness ≈ 0.</a:t>
            </a:r>
            <a:endParaRPr lang="en-US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5581861C-9D9E-5C40-9BDD-93940D6EB119}"/>
              </a:ext>
            </a:extLst>
          </p:cNvPr>
          <p:cNvSpPr/>
          <p:nvPr/>
        </p:nvSpPr>
        <p:spPr>
          <a:xfrm>
            <a:off x="5968181" y="1848465"/>
            <a:ext cx="845574" cy="766916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E6F114B-F9D5-C0E2-FBF3-C449D6FDAB5A}"/>
              </a:ext>
            </a:extLst>
          </p:cNvPr>
          <p:cNvSpPr/>
          <p:nvPr/>
        </p:nvSpPr>
        <p:spPr>
          <a:xfrm>
            <a:off x="715776" y="216310"/>
            <a:ext cx="2576051" cy="326431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3. Left-skewed / Negative skewnessThe long tail goes to the left.A few very low values pull the mean to the left.Usually: Mean &lt; Median &lt; Mode.Example: an easy exam where most students got high marks but a few failed.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05266AB-37CF-969A-A538-47C926D1A52A}"/>
              </a:ext>
            </a:extLst>
          </p:cNvPr>
          <p:cNvSpPr/>
          <p:nvPr/>
        </p:nvSpPr>
        <p:spPr>
          <a:xfrm>
            <a:off x="9490109" y="216310"/>
            <a:ext cx="2613401" cy="326431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2. Right-skewed / Positive skewness</a:t>
            </a:r>
            <a:br>
              <a:rPr lang="en-US"/>
            </a:br>
            <a:r>
              <a:rPr lang="en-US"/>
              <a:t>The long tail goes to the right.</a:t>
            </a:r>
            <a:br>
              <a:rPr lang="en-US"/>
            </a:br>
            <a:r>
              <a:rPr lang="en-US"/>
              <a:t>A few very high values pull the mean to the right.</a:t>
            </a:r>
            <a:br>
              <a:rPr lang="en-US"/>
            </a:br>
            <a:r>
              <a:rPr lang="en-US"/>
              <a:t>Usually: </a:t>
            </a:r>
            <a:r>
              <a:rPr lang="en-US" b="1"/>
              <a:t>Mode &lt; Median &lt; Mean</a:t>
            </a:r>
            <a:r>
              <a:rPr lang="en-US"/>
              <a:t>.</a:t>
            </a:r>
            <a:br>
              <a:rPr lang="en-US"/>
            </a:br>
            <a:r>
              <a:rPr lang="en-US"/>
              <a:t>Example: income/salaries.</a:t>
            </a:r>
            <a:endParaRPr lang="en-US" dirty="0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B6760117-5FB5-6517-C2CE-C3A12C46ECD1}"/>
              </a:ext>
            </a:extLst>
          </p:cNvPr>
          <p:cNvCxnSpPr>
            <a:cxnSpLocks/>
          </p:cNvCxnSpPr>
          <p:nvPr/>
        </p:nvCxnSpPr>
        <p:spPr>
          <a:xfrm>
            <a:off x="2003801" y="3480620"/>
            <a:ext cx="1276214" cy="8504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C0CA25E7-20E4-7269-3D9A-B825E5EE2651}"/>
              </a:ext>
            </a:extLst>
          </p:cNvPr>
          <p:cNvCxnSpPr>
            <a:cxnSpLocks/>
            <a:stCxn id="8" idx="2"/>
          </p:cNvCxnSpPr>
          <p:nvPr/>
        </p:nvCxnSpPr>
        <p:spPr>
          <a:xfrm rot="5400000">
            <a:off x="9867169" y="3140913"/>
            <a:ext cx="589934" cy="12693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0869559-E53B-AD43-4FB1-8A24348D1B37}"/>
              </a:ext>
            </a:extLst>
          </p:cNvPr>
          <p:cNvSpPr/>
          <p:nvPr/>
        </p:nvSpPr>
        <p:spPr>
          <a:xfrm>
            <a:off x="3647768" y="5299587"/>
            <a:ext cx="5496232" cy="648929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Skewness is about the direction of the tail, not where most data 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9150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AA9F457-395E-0577-4D05-CA6E644AB1C8}"/>
              </a:ext>
            </a:extLst>
          </p:cNvPr>
          <p:cNvSpPr/>
          <p:nvPr/>
        </p:nvSpPr>
        <p:spPr>
          <a:xfrm>
            <a:off x="3677264" y="521109"/>
            <a:ext cx="4837471" cy="92423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Kurtosis describes the shape of a distribution, especially the heaviness of the tails and the presence of extreme values.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F06A4E-87BB-74D9-445F-637337293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480" y="172196"/>
            <a:ext cx="9413040" cy="604166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6A005E-ABD4-91B0-616D-E1237C97111E}"/>
              </a:ext>
            </a:extLst>
          </p:cNvPr>
          <p:cNvSpPr/>
          <p:nvPr/>
        </p:nvSpPr>
        <p:spPr>
          <a:xfrm>
            <a:off x="1389479" y="19664"/>
            <a:ext cx="1661652" cy="678425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 3 types: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EF8A88-1013-283A-979E-5A54136CD126}"/>
              </a:ext>
            </a:extLst>
          </p:cNvPr>
          <p:cNvSpPr/>
          <p:nvPr/>
        </p:nvSpPr>
        <p:spPr>
          <a:xfrm>
            <a:off x="8187576" y="1393721"/>
            <a:ext cx="3224981" cy="1799305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Mesokurtic:</a:t>
            </a:r>
            <a:r>
              <a:rPr lang="en-US"/>
              <a:t> A normal-shaped distribution with a balanced peak and normal tails; extreme values are not unusual or excessive.</a:t>
            </a:r>
            <a:endParaRPr lang="en-US" dirty="0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FD956DFE-3354-6923-F39E-AFF32CA5E668}"/>
              </a:ext>
            </a:extLst>
          </p:cNvPr>
          <p:cNvCxnSpPr/>
          <p:nvPr/>
        </p:nvCxnSpPr>
        <p:spPr>
          <a:xfrm rot="10800000" flipV="1">
            <a:off x="7374195" y="3193026"/>
            <a:ext cx="2477729" cy="3072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3BDDF55-E8C0-7C26-2533-904A9A4C722A}"/>
              </a:ext>
            </a:extLst>
          </p:cNvPr>
          <p:cNvSpPr/>
          <p:nvPr/>
        </p:nvSpPr>
        <p:spPr>
          <a:xfrm>
            <a:off x="943897" y="1393721"/>
            <a:ext cx="2930013" cy="1664111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Leptokurtic:</a:t>
            </a:r>
            <a:r>
              <a:rPr lang="en-US" dirty="0"/>
              <a:t> A sharper, taller peak with heavier tails; it usually indicates more extreme values or outliers.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452143AD-9003-AA10-8723-52D4C560339A}"/>
              </a:ext>
            </a:extLst>
          </p:cNvPr>
          <p:cNvCxnSpPr/>
          <p:nvPr/>
        </p:nvCxnSpPr>
        <p:spPr>
          <a:xfrm flipV="1">
            <a:off x="3893574" y="1597873"/>
            <a:ext cx="2054942" cy="6340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914FE4A-F4DE-F7D4-B663-04003D7A6A22}"/>
              </a:ext>
            </a:extLst>
          </p:cNvPr>
          <p:cNvSpPr/>
          <p:nvPr/>
        </p:nvSpPr>
        <p:spPr>
          <a:xfrm>
            <a:off x="4149214" y="4315067"/>
            <a:ext cx="4119716" cy="133848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Platykurtic:</a:t>
            </a:r>
            <a:r>
              <a:rPr lang="en-US"/>
              <a:t> A flatter and wider distribution with lighter tails; it usually indicates fewer extreme values and more spread-out data.</a:t>
            </a:r>
            <a:endParaRPr lang="en-US" dirty="0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05BDC5BB-B688-F3BE-13C4-76ABB12F17BE}"/>
              </a:ext>
            </a:extLst>
          </p:cNvPr>
          <p:cNvCxnSpPr>
            <a:stCxn id="15" idx="0"/>
          </p:cNvCxnSpPr>
          <p:nvPr/>
        </p:nvCxnSpPr>
        <p:spPr>
          <a:xfrm rot="5400000" flipH="1" flipV="1">
            <a:off x="5768496" y="3869577"/>
            <a:ext cx="886067" cy="491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FFECD9D-2644-A15C-77BF-1F3336BC0DD6}"/>
              </a:ext>
            </a:extLst>
          </p:cNvPr>
          <p:cNvSpPr/>
          <p:nvPr/>
        </p:nvSpPr>
        <p:spPr>
          <a:xfrm>
            <a:off x="3519948" y="5270090"/>
            <a:ext cx="5284845" cy="886067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Kurtosis is not only about how tall the curve is. It is mainly about the tails and extreme values.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5897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8" grpId="0" animBg="1"/>
      <p:bldP spid="9" grpId="0" animBg="1"/>
      <p:bldP spid="9" grpId="2" animBg="1"/>
      <p:bldP spid="12" grpId="0" animBg="1"/>
      <p:bldP spid="12" grpId="1" animBg="1"/>
      <p:bldP spid="15" grpId="0" animBg="1"/>
      <p:bldP spid="15" grpId="1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C98BF-38F2-DCC1-F2DE-4D0B3DC11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38ABB19-3563-1FC6-1062-2069D6E055FA}"/>
              </a:ext>
            </a:extLst>
          </p:cNvPr>
          <p:cNvSpPr/>
          <p:nvPr/>
        </p:nvSpPr>
        <p:spPr>
          <a:xfrm>
            <a:off x="3352800" y="1617406"/>
            <a:ext cx="5279923" cy="2074607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Skewness and kurtosis describe two different aspects of a distribution.</a:t>
            </a:r>
            <a:endParaRPr lang="en-US"/>
          </a:p>
          <a:p>
            <a:pPr algn="ctr"/>
            <a:r>
              <a:rPr lang="en-US" b="1"/>
              <a:t>Skewness</a:t>
            </a:r>
            <a:r>
              <a:rPr lang="en-US"/>
              <a:t> tells us the </a:t>
            </a:r>
            <a:r>
              <a:rPr lang="en-US" b="1"/>
              <a:t>direction of the tail</a:t>
            </a:r>
            <a:r>
              <a:rPr lang="en-US"/>
              <a:t>: left, right, or balanced.</a:t>
            </a:r>
            <a:br>
              <a:rPr lang="en-US"/>
            </a:br>
            <a:r>
              <a:rPr lang="en-US" b="1"/>
              <a:t>Kurtosis</a:t>
            </a:r>
            <a:r>
              <a:rPr lang="en-US"/>
              <a:t> tells us the </a:t>
            </a:r>
            <a:r>
              <a:rPr lang="en-US" b="1"/>
              <a:t>heaviness of the tails</a:t>
            </a:r>
            <a:r>
              <a:rPr lang="en-US"/>
              <a:t> and how common extreme values are.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4F7B6E-1B34-6EC1-CD76-8720B62C1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39" y="624597"/>
            <a:ext cx="11552921" cy="560880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F6D0C71-F42A-FAF2-1DC9-4A10E38D0E53}"/>
              </a:ext>
            </a:extLst>
          </p:cNvPr>
          <p:cNvSpPr/>
          <p:nvPr/>
        </p:nvSpPr>
        <p:spPr>
          <a:xfrm>
            <a:off x="3441290" y="1150375"/>
            <a:ext cx="3175819" cy="75708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Skewness answers: “Where does the tail go?”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1101A5C-5F22-CCE2-44BA-A93FF611103D}"/>
              </a:ext>
            </a:extLst>
          </p:cNvPr>
          <p:cNvSpPr/>
          <p:nvPr/>
        </p:nvSpPr>
        <p:spPr>
          <a:xfrm>
            <a:off x="1150374" y="4033683"/>
            <a:ext cx="4945625" cy="250722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FCD7BFA-E40A-0405-2F7C-408A82142B61}"/>
              </a:ext>
            </a:extLst>
          </p:cNvPr>
          <p:cNvSpPr/>
          <p:nvPr/>
        </p:nvSpPr>
        <p:spPr>
          <a:xfrm flipH="1">
            <a:off x="4390104" y="4304072"/>
            <a:ext cx="4945625" cy="250722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0CBD226-767C-E758-8992-073AEBC9B7F3}"/>
              </a:ext>
            </a:extLst>
          </p:cNvPr>
          <p:cNvSpPr/>
          <p:nvPr/>
        </p:nvSpPr>
        <p:spPr>
          <a:xfrm>
            <a:off x="1150374" y="3429000"/>
            <a:ext cx="1406013" cy="513735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right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AD90619-3CC8-7124-F9AB-B11EE95F764A}"/>
              </a:ext>
            </a:extLst>
          </p:cNvPr>
          <p:cNvSpPr/>
          <p:nvPr/>
        </p:nvSpPr>
        <p:spPr>
          <a:xfrm>
            <a:off x="8259097" y="3814916"/>
            <a:ext cx="1258529" cy="469489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left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2A0A7C5-9AD3-1E9C-20D3-3C927AFEC590}"/>
              </a:ext>
            </a:extLst>
          </p:cNvPr>
          <p:cNvSpPr/>
          <p:nvPr/>
        </p:nvSpPr>
        <p:spPr>
          <a:xfrm>
            <a:off x="3623186" y="2369574"/>
            <a:ext cx="2939845" cy="193449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2B08EC-FEBF-7665-28EB-F44AECD5E794}"/>
              </a:ext>
            </a:extLst>
          </p:cNvPr>
          <p:cNvSpPr/>
          <p:nvPr/>
        </p:nvSpPr>
        <p:spPr>
          <a:xfrm>
            <a:off x="6862916" y="2576052"/>
            <a:ext cx="1258529" cy="589935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midle</a:t>
            </a:r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D7CD596-3987-C9B0-5A7C-E35DD6C4A823}"/>
              </a:ext>
            </a:extLst>
          </p:cNvPr>
          <p:cNvSpPr/>
          <p:nvPr/>
        </p:nvSpPr>
        <p:spPr>
          <a:xfrm>
            <a:off x="3441290" y="1150375"/>
            <a:ext cx="3175819" cy="75708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Kurtosis answers: “How heavy or extreme are the tails?”</a:t>
            </a:r>
            <a:endParaRPr lang="en-US" dirty="0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B627B50D-7465-6644-971A-7F05ED559543}"/>
              </a:ext>
            </a:extLst>
          </p:cNvPr>
          <p:cNvSpPr/>
          <p:nvPr/>
        </p:nvSpPr>
        <p:spPr>
          <a:xfrm flipV="1">
            <a:off x="2133600" y="1543665"/>
            <a:ext cx="304800" cy="3952567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CF3B0DF3-9072-242D-7F7A-1B571A70D506}"/>
              </a:ext>
            </a:extLst>
          </p:cNvPr>
          <p:cNvSpPr/>
          <p:nvPr/>
        </p:nvSpPr>
        <p:spPr>
          <a:xfrm flipV="1">
            <a:off x="7855974" y="1543664"/>
            <a:ext cx="304800" cy="3952567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31B081A-A67F-D3DB-CE58-B94504889B1B}"/>
              </a:ext>
            </a:extLst>
          </p:cNvPr>
          <p:cNvSpPr/>
          <p:nvPr/>
        </p:nvSpPr>
        <p:spPr>
          <a:xfrm>
            <a:off x="415409" y="852704"/>
            <a:ext cx="1465006" cy="71554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Leptokurtic: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5D113D7-B5BE-4204-9DD1-A108623C1510}"/>
              </a:ext>
            </a:extLst>
          </p:cNvPr>
          <p:cNvSpPr/>
          <p:nvPr/>
        </p:nvSpPr>
        <p:spPr>
          <a:xfrm>
            <a:off x="415409" y="852704"/>
            <a:ext cx="1465006" cy="71554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Platykurtic: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B4457B96-5CED-AC1D-B1FE-84D6F2A7546A}"/>
              </a:ext>
            </a:extLst>
          </p:cNvPr>
          <p:cNvSpPr/>
          <p:nvPr/>
        </p:nvSpPr>
        <p:spPr>
          <a:xfrm flipV="1">
            <a:off x="4876800" y="3942735"/>
            <a:ext cx="511277" cy="1553496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53BF375-856E-B992-6BD9-C8A11B5E4375}"/>
              </a:ext>
            </a:extLst>
          </p:cNvPr>
          <p:cNvSpPr/>
          <p:nvPr/>
        </p:nvSpPr>
        <p:spPr>
          <a:xfrm>
            <a:off x="415409" y="852704"/>
            <a:ext cx="1465006" cy="75708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Mesokurtic:</a:t>
            </a:r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4F36F93C-E81F-C3B6-53D8-7A2AD227CA72}"/>
              </a:ext>
            </a:extLst>
          </p:cNvPr>
          <p:cNvSpPr/>
          <p:nvPr/>
        </p:nvSpPr>
        <p:spPr>
          <a:xfrm flipV="1">
            <a:off x="4876800" y="2900516"/>
            <a:ext cx="511277" cy="2595715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48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20" grpId="0" animBg="1"/>
      <p:bldP spid="20" grpId="2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3FEB6-DD0F-C3E6-D4D7-AA29AE90E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806ECD4-0A32-B180-AAD4-694398A2CFBC}"/>
              </a:ext>
            </a:extLst>
          </p:cNvPr>
          <p:cNvSpPr/>
          <p:nvPr/>
        </p:nvSpPr>
        <p:spPr>
          <a:xfrm>
            <a:off x="580104" y="334297"/>
            <a:ext cx="9468464" cy="558472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Final Example: How to Read Data Using Skewness + Kurtosis</a:t>
            </a:r>
          </a:p>
          <a:p>
            <a:endParaRPr lang="en-US" b="1" dirty="0"/>
          </a:p>
          <a:p>
            <a:r>
              <a:rPr lang="en-US" dirty="0"/>
              <a:t>Imagine we have the </a:t>
            </a:r>
            <a:r>
              <a:rPr lang="en-US" b="1" dirty="0"/>
              <a:t>exam grades of a class</a:t>
            </a:r>
            <a:r>
              <a:rPr lang="en-US" dirty="0"/>
              <a:t>.</a:t>
            </a:r>
          </a:p>
          <a:p>
            <a:r>
              <a:rPr lang="en-US" dirty="0"/>
              <a:t>The graph shows:</a:t>
            </a:r>
          </a:p>
          <a:p>
            <a:r>
              <a:rPr lang="en-US" dirty="0"/>
              <a:t>Most students scored around </a:t>
            </a:r>
            <a:r>
              <a:rPr lang="en-US" b="1" dirty="0"/>
              <a:t>13/20</a:t>
            </a:r>
            <a:r>
              <a:rPr lang="en-US" dirty="0"/>
              <a:t> </a:t>
            </a:r>
          </a:p>
          <a:p>
            <a:r>
              <a:rPr lang="en-US" dirty="0"/>
              <a:t>A few students scored very low, around </a:t>
            </a:r>
            <a:r>
              <a:rPr lang="en-US" b="1" dirty="0"/>
              <a:t>2/20 or 3/20</a:t>
            </a:r>
            <a:r>
              <a:rPr lang="en-US" dirty="0"/>
              <a:t> </a:t>
            </a:r>
          </a:p>
          <a:p>
            <a:r>
              <a:rPr lang="en-US" dirty="0"/>
              <a:t>The curve has a longer tail on the </a:t>
            </a:r>
            <a:r>
              <a:rPr lang="en-US" b="1" dirty="0"/>
              <a:t>left side</a:t>
            </a:r>
            <a:r>
              <a:rPr lang="en-US" dirty="0"/>
              <a:t> </a:t>
            </a:r>
          </a:p>
          <a:p>
            <a:r>
              <a:rPr lang="en-US" dirty="0"/>
              <a:t>The tails are a bit heavy because there are some extreme low scores</a:t>
            </a:r>
          </a:p>
          <a:p>
            <a:r>
              <a:rPr lang="en-US" dirty="0"/>
              <a:t>This class is generally doing well because most grades are high, but the teacher should not ignore the few students with very low results.</a:t>
            </a:r>
          </a:p>
          <a:p>
            <a:endParaRPr lang="en-US" dirty="0"/>
          </a:p>
          <a:p>
            <a:r>
              <a:rPr lang="en-US" b="1" dirty="0"/>
              <a:t>Skewness tells us the problem is on the low-score side.</a:t>
            </a:r>
            <a:br>
              <a:rPr lang="en-US" dirty="0"/>
            </a:br>
            <a:r>
              <a:rPr lang="en-US" b="1" dirty="0"/>
              <a:t>Kurtosis tells us that the low scores are extreme enough to matter.</a:t>
            </a:r>
          </a:p>
          <a:p>
            <a:endParaRPr lang="en-US" dirty="0"/>
          </a:p>
          <a:p>
            <a:r>
              <a:rPr lang="en-US" b="1" dirty="0"/>
              <a:t>By combining skewness and kurtosis, we do not only see the average performance; we also understand where the imbalance is and whether extreme values are affecting the data.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632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53</TotalTime>
  <Words>496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Calibri Light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 Daher</dc:creator>
  <cp:lastModifiedBy>Angel Daher</cp:lastModifiedBy>
  <cp:revision>2</cp:revision>
  <dcterms:created xsi:type="dcterms:W3CDTF">2026-05-16T18:34:36Z</dcterms:created>
  <dcterms:modified xsi:type="dcterms:W3CDTF">2026-05-16T19:27:54Z</dcterms:modified>
</cp:coreProperties>
</file>